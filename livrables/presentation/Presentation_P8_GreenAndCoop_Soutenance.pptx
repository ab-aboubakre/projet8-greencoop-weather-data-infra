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en rappelant le contexte métier : GreenAndCoop veut améliorer ses prévisions de demande électrique avec des données météo plus fines.
Message clé : je présente un pipeline ELT complet, local puis cloud AWS, avec ingestion, transformation, contrôles qualité et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le projet répond à un besoin métier précis : enrichir les modèles de prévision là où les stations officielles ne suffisent pas.
Mentionner que les données arrivent à des fréquences différentes, ce qui justifie une architecture ELT robuste.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diversité des sources : JSON InfoClimat et fichiers Weather Underground.
Faire le lien avec le modèle final : toutes les sources alimentent une dimension station commune et une table de faits météo.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l’architecture sépare clairement le RAW et les modèles analytiques.
Mentionner la transition local vers AWS : les composants restent les mêmes, mais sont industrialisés avec RDS, ECS et CloudWatch.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Parcourir le logigramme rapidement : il raconte la démarche technique complète.
Montrer que le projet ne se limite pas au chargement : il inclut les tests, la documentation et l’exploitation.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Justifier le schéma en étoile : il facilite les agrégations temporelles par station et les jointures pour les Data Scientists.
Préciser que les index sont placés sur station_id, timestamp et clés de jointure dans les modèles marts.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que la validation locale réduit le risque avant AWS.
En soutenance, ouvrir les terminaux ou captures Airbyte/DBT pour montrer la connexion et la première synchronisation.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tests standards DBT puis les règles métier ajoutées.
Dire que les échecs de test deviennent des points d’action : correction SQL, normalisation ou exclusion documentée.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déploiement AWS comme la version industrialisée du socle local.
Insister sur la sécurité : pas de secrets en dur, variables protégées ou Secrets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Chronométrer cette démo à l’avance.
Préparer les onglets et commandes avant la soutenance pour éviter les temps morts.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Préparer quelques réponses sur les limites : coûts AWS, orchestration, volume de données, gestion des anomalies et sécurité.
Terminer en expliquant que l’architecture est extensible : ajouter une station revient à ajouter une source et une ligne dans la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slide comme conclusion opérationnelle : tous les livrables demandés sont couverts.
Rappeler que les identifiants et endpoints sensibles doivent être masqués dans les captures.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Annexe à garder si le jury demande de revenir sur les consignes officielles.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captures documentent DBT, tests, AWS et les métadonnées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Dernières consignes sur la soutenance, les captures attendues et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Permet de justifier le plan de la présentation à partir de la grille de réussite.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Permet de vérifier que le support couvre Airbyte, DBT, AWS, qualité et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2700">
            <a:solidFill>
              <a:srgbClr val="DDE4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8 · Forecast 2.0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D5FF"/>
                </a:solidFill>
              </a:rPr>
              <a:t>Forecast 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Construisez et testez une infrastructure de données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13232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9FF"/>
                </a:solidFill>
              </a:rPr>
              <a:t>Soutenance · GreenAndCoop · Data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3730752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80390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ELT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54480" y="3730752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2C7A54"/>
          </a:solidFill>
          <a:ln w="12700">
            <a:solidFill>
              <a:srgbClr val="2C7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3803904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Airbyte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3730752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380390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DBT</a:t>
            </a:r>
            <a:endParaRPr lang="en-US" sz="850" dirty="0"/>
          </a:p>
        </p:txBody>
      </p:sp>
      <p:pic>
        <p:nvPicPr>
          <p:cNvPr id="13" name="Image 0" descr="/mnt/data/p8_assets/mission-01.png">    </p:cNvPr>
          <p:cNvPicPr>
            <a:picLocks noChangeAspect="1"/>
          </p:cNvPicPr>
          <p:nvPr/>
        </p:nvPicPr>
        <p:blipFill>
          <a:blip r:embed="rId1"/>
          <a:srcRect l="0" r="0" t="22754" b="22754"/>
          <a:stretch/>
        </p:blipFill>
        <p:spPr>
          <a:xfrm>
            <a:off x="4663440" y="566928"/>
            <a:ext cx="6995160" cy="5394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28032" y="60899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Objectif : mettre à disposition des données météo fiables, historisées et exploitables pour les modèles de prévision.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1. Contexte et attentes métier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Prévision de demande électrique avec des sources météo hétérogènes.</a:t>
            </a:r>
            <a:endParaRPr lang="en-US" sz="950" dirty="0"/>
          </a:p>
        </p:txBody>
      </p:sp>
      <p:pic>
        <p:nvPicPr>
          <p:cNvPr id="4" name="Image 0" descr="/mnt/data/p8_assets/mission-02.png">    </p:cNvPr>
          <p:cNvPicPr>
            <a:picLocks noChangeAspect="1"/>
          </p:cNvPicPr>
          <p:nvPr/>
        </p:nvPicPr>
        <p:blipFill>
          <a:blip r:embed="rId1"/>
          <a:srcRect l="0" r="0" t="14672" b="14672"/>
          <a:stretch/>
        </p:blipFill>
        <p:spPr>
          <a:xfrm>
            <a:off x="594360" y="1143000"/>
            <a:ext cx="475488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Besoin formulé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87568" y="150876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8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25312" y="16550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5C99"/>
                </a:solidFill>
              </a:rPr>
              <a:t>Centraliser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164592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</a:rPr>
              <a:t>Regrouper InfoClimat et Weather Underground dans PostgreSQL.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87568" y="277063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8F6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29169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54"/>
                </a:solidFill>
              </a:rPr>
              <a:t>Fiabiliser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0920" y="290779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</a:rPr>
              <a:t>Contrôler la qualité, documenter le lineage et les tests DBT.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87568" y="4032504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0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Industrialiser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416966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</a:rPr>
              <a:t>Déployer sur AWS avec logs, monitoring et exécution planifiée.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2. Sources de données intégrées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Données semi-professionnelles et open data, conservées en brut avant transformation.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5C99"/>
                </a:solidFill>
              </a:rPr>
              <a:t>4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81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</a:rPr>
              <a:t>stations InfoClimat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2743200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7A54"/>
                </a:solidFill>
              </a:rPr>
              <a:t>1 143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743200" y="1581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</a:rPr>
              <a:t>lignes JSON observées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4343400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C63FF"/>
                </a:solidFill>
              </a:rPr>
              <a:t>05–07 oct.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343400" y="1581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</a:rPr>
              <a:t>période exemple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Stations météo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0292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258568"/>
            <a:ext cx="5010912" cy="329184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4048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5C99"/>
                </a:solidFill>
              </a:rPr>
              <a:t>ID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24048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5C99"/>
                </a:solidFill>
              </a:rPr>
              <a:t>Nom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11880" y="24048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55C99"/>
                </a:solidFill>
              </a:rPr>
              <a:t>Origine / type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96112" y="27614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00052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65960" y="27614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Armentières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11880" y="2761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B2733"/>
                </a:solidFill>
              </a:rPr>
              <a:t>static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96112" y="31181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000R5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5960" y="31181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Bergues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11880" y="3118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B2733"/>
                </a:solidFill>
              </a:rPr>
              <a:t>static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96112" y="34747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07015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34747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Lille-Lesquin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11880" y="34747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B2733"/>
                </a:solidFill>
              </a:rPr>
              <a:t>synop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96112" y="3831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STATIC0010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5960" y="38313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Hazebrouck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11880" y="38313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B2733"/>
                </a:solidFill>
              </a:rPr>
              <a:t>static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96112" y="4187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ILAMAD25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65960" y="418795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La Madeleine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11880" y="4187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B2733"/>
                </a:solidFill>
              </a:rPr>
              <a:t>Weather Underground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96112" y="45445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IICHTE19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65960" y="45445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733"/>
                </a:solidFill>
              </a:rPr>
              <a:t>Ichtegem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11880" y="4544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B2733"/>
                </a:solidFill>
              </a:rPr>
              <a:t>Weather Underground</a:t>
            </a:r>
            <a:endParaRPr lang="en-US" sz="820" dirty="0"/>
          </a:p>
        </p:txBody>
      </p:sp>
      <p:pic>
        <p:nvPicPr>
          <p:cNvPr id="34" name="Image 0" descr="/mnt/data/p8_assets/mission-05.png">    </p:cNvPr>
          <p:cNvPicPr>
            <a:picLocks noChangeAspect="1"/>
          </p:cNvPicPr>
          <p:nvPr/>
        </p:nvPicPr>
        <p:blipFill>
          <a:blip r:embed="rId1"/>
          <a:srcRect l="0" r="0" t="17644" b="17644"/>
          <a:stretch/>
        </p:blipFill>
        <p:spPr>
          <a:xfrm>
            <a:off x="6446520" y="1143000"/>
            <a:ext cx="4892040" cy="44805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44652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La table dim_weather_stations conserve les métadonnées station : coordonnées, élévation, réseau et détails matériels.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3. Architecture cible de la plateforme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Un flux ELT simple : ingestion brute, transformation DBT, exposition analytique.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295144" y="2615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5E0"/>
                </a:solidFill>
              </a:rPr>
              <a:t>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98264" y="2615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5E0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55664" y="2615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5E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50224" y="2615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5E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5C99"/>
                </a:solidFill>
              </a:rPr>
              <a:t>Sources météo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JSON / XLSX / API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8920" y="23774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8648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7A54"/>
                </a:solidFill>
              </a:rPr>
              <a:t>Airbyte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98648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ingestion RAW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23774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PostgreSQL 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56048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stockage central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40880" y="23774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63FF"/>
                </a:solidFill>
              </a:rPr>
              <a:t>DBT Core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50608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staging → marts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81160" y="23774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EAF8F9"/>
          </a:solidFill>
          <a:ln w="12700">
            <a:solidFill>
              <a:srgbClr val="EAF8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91"/>
                </a:solidFill>
              </a:rPr>
              <a:t>Data Science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90888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requêtes / ML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60520" y="4892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7A54"/>
                </a:solidFill>
              </a:rPr>
              <a:t>Contrôles qualité + documentation + lineage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1560" y="1143000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13075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Local : Docker + Airbyte + DBT → Cloud : AWS RDS, ECS, CloudWatch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4. Processus ELT suivi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Un pipeline contrôlé de bout en bout, avec retours en cas d’erreur.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481328"/>
            <a:ext cx="493776" cy="493776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9105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90472" y="14447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Préparer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90472" y="1764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Docker, PostgreSQL, Airbyte, DBT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7FD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481328"/>
            <a:ext cx="493776" cy="493776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9105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85232" y="14447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Ingest 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1764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connecteurs Airbyte vers PostgreSQL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9912" y="1481328"/>
            <a:ext cx="493776" cy="493776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159105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79992" y="14447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Transformer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79992" y="1764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DBT staging, intermediate, marts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10896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7FD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355848"/>
            <a:ext cx="493776" cy="493776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46557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90472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Tester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0472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not null, unique, relations, règles métier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10896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3355848"/>
            <a:ext cx="493776" cy="493776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46557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Documenter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dbt docs + lineage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75320" y="310896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7FD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9912" y="3355848"/>
            <a:ext cx="493776" cy="493776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346557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79992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</a:rPr>
              <a:t>Déployer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79992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RDS, ECS planifié, CloudWatch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" y="54132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43C"/>
                </a:solidFill>
              </a:rPr>
              <a:t>Contrôles : échec de synchronisation, test DBT KO, données manquantes ou valeurs hors bornes.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5. Modélisation analytique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Un schéma en étoile pour interroger simplement les relevés météo.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846320" y="22402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2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2560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fact_weather_measurements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29077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mesures horodatées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température, humidité, vent, pluie…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43000" y="141732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184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C99"/>
                </a:solidFill>
              </a:rPr>
              <a:t>dim_weather_stations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9476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</a:rPr>
              <a:t>station_id, nom, latitude, réseau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143000" y="416052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43616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7A54"/>
                </a:solidFill>
              </a:rPr>
              <a:t>dim_time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46908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</a:rPr>
              <a:t>date, heure, jour, mois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577072" y="141732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4232" y="16184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dim_source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59952" y="19476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</a:rPr>
              <a:t>source, licence, fréquence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577072" y="416052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AF8F9"/>
          </a:solidFill>
          <a:ln w="12700">
            <a:solidFill>
              <a:srgbClr val="EAF8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14232" y="43616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A91"/>
                </a:solidFill>
              </a:rPr>
              <a:t>dim_weather_conditions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59952" y="46908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</a:rPr>
              <a:t>codes OMM, libellés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0584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</a:rPr>
              <a:t>Choix : garder les données RAW intactes et publier une couche marts propre, typée et indexée.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6. Installation locale et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Socle technique testé avant le déploiement cloud.</a:t>
            </a:r>
            <a:endParaRPr lang="en-US" sz="950" dirty="0"/>
          </a:p>
        </p:txBody>
      </p:sp>
      <p:pic>
        <p:nvPicPr>
          <p:cNvPr id="4" name="Image 0" descr="/mnt/data/p8_assets/mission-04.png">    </p:cNvPr>
          <p:cNvPicPr>
            <a:picLocks noChangeAspect="1"/>
          </p:cNvPicPr>
          <p:nvPr/>
        </p:nvPicPr>
        <p:blipFill>
          <a:blip r:embed="rId1"/>
          <a:srcRect l="0" r="0" t="19128" b="19128"/>
          <a:stretch/>
        </p:blipFill>
        <p:spPr>
          <a:xfrm>
            <a:off x="685800" y="1115568"/>
            <a:ext cx="507492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234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Preuves attendues en démonstration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90488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65392" y="17099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2733"/>
                </a:solidFill>
              </a:rPr>
              <a:t>Connexion PostgreSQL OK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9006840" y="17282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psql / client SQL / dbt debug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190488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65392" y="245973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2733"/>
                </a:solidFill>
              </a:rPr>
              <a:t>Airbyte accessible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9006840" y="24780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connecteurs source et destination configurés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0488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65392" y="32095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2733"/>
                </a:solidFill>
              </a:rPr>
              <a:t>Tables RAW alimentées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9006840" y="32278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vérification du volume et des colonnes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0488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65392" y="39593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2733"/>
                </a:solidFill>
              </a:rPr>
              <a:t>DBT connecté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9006840" y="397764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run, test, docs generate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5074920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5266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7A54"/>
                </a:solidFill>
              </a:rPr>
              <a:t>Point de vigilance : ne pas transformer avant ingestion RAW.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7. Qualité des données et tests DBT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Les tests automatisés sécurisent les données exposées en marts.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2F7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3258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not_null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31720" y="131673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Clés, horodatage, station_id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883664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391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unique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20299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clé technique fact + dimension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596896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2F7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523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relationships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27432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station_id vers dim_weather_stations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46557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accepted range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345643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humidité 0–100 %, vent ≥ 0, température plausible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2F7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1788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freshness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31720" y="41696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</a:rPr>
              <a:t>contrôle du délai d’accessibilité</a:t>
            </a:r>
            <a:endParaRPr lang="en-US" sz="950" dirty="0"/>
          </a:p>
        </p:txBody>
      </p:sp>
      <p:pic>
        <p:nvPicPr>
          <p:cNvPr id="19" name="Image 0" descr="/mnt/data/p8_assets/mission-07.png">    </p:cNvPr>
          <p:cNvPicPr>
            <a:picLocks noChangeAspect="1"/>
          </p:cNvPicPr>
          <p:nvPr/>
        </p:nvPicPr>
        <p:blipFill>
          <a:blip r:embed="rId1"/>
          <a:srcRect l="0" r="0" t="22045" b="22045"/>
          <a:stretch/>
        </p:blipFill>
        <p:spPr>
          <a:xfrm>
            <a:off x="6080760" y="1051560"/>
            <a:ext cx="5257800" cy="41605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68680" y="5230368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8ED"/>
          </a:solidFill>
          <a:ln w="12700">
            <a:solidFill>
              <a:srgbClr val="FFF8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5404104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67E22"/>
                </a:solidFill>
              </a:rPr>
              <a:t>Reporting soutenance : taux d’erreurs, tests passés/échoués, délai entre ingestion Airbyte et disponibilité marts.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8. Déploiement AWS et supervision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Industrialisation : disponibilité, exécution planifiée, logs et monitoring.</a:t>
            </a:r>
            <a:endParaRPr lang="en-US" sz="950" dirty="0"/>
          </a:p>
        </p:txBody>
      </p:sp>
      <p:pic>
        <p:nvPicPr>
          <p:cNvPr id="4" name="Image 0" descr="/mnt/data/p8_assets/mission-08.png">    </p:cNvPr>
          <p:cNvPicPr>
            <a:picLocks noChangeAspect="1"/>
          </p:cNvPicPr>
          <p:nvPr/>
        </p:nvPicPr>
        <p:blipFill>
          <a:blip r:embed="rId1"/>
          <a:srcRect l="0" r="0" t="17314" b="17314"/>
          <a:stretch/>
        </p:blipFill>
        <p:spPr>
          <a:xfrm>
            <a:off x="685800" y="1051560"/>
            <a:ext cx="489204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234440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E8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36208" y="13898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5C99"/>
                </a:solidFill>
              </a:rPr>
              <a:t>RDS PostgreSQL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0" y="13898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733"/>
                </a:solidFill>
              </a:rPr>
              <a:t>base centrale managée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5989320" y="1984248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08" y="2139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5C99"/>
                </a:solidFill>
              </a:rPr>
              <a:t>ECS / task planifiée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0" y="21396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733"/>
                </a:solidFill>
              </a:rPr>
              <a:t>exécution DBT automatique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989320" y="2734056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E8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288950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5C99"/>
                </a:solidFill>
              </a:rPr>
              <a:t>CloudWatch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12480" y="28895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733"/>
                </a:solidFill>
              </a:rPr>
              <a:t>logs Airbyte + DBT, métriques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5989320" y="3483864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3639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5C99"/>
                </a:solidFill>
              </a:rPr>
              <a:t>Secrets / env vars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12480" y="36393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733"/>
                </a:solidFill>
              </a:rPr>
              <a:t>sécurisation des accès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989320" y="4233672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E8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43891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5C99"/>
                </a:solidFill>
              </a:rPr>
              <a:t>Backups RDS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412480" y="4389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733"/>
                </a:solidFill>
              </a:rPr>
              <a:t>restauration et protection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989320" y="5321808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81344" y="54681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7A54"/>
                </a:solidFill>
              </a:rPr>
              <a:t>Démo : dbt run + dbt test + dbt docs serve/doc lineage + vérification RDS.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9. Démonstration en 3 minutes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Un scénario court, reproductible et centré sur les preuves.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261872" y="1353312"/>
            <a:ext cx="0" cy="530352"/>
          </a:xfrm>
          <a:prstGeom prst="line">
            <a:avLst/>
          </a:prstGeom>
          <a:noFill/>
          <a:ln w="254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234440"/>
            <a:ext cx="347472" cy="347472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4208" y="11978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C99"/>
                </a:solidFill>
              </a:rPr>
              <a:t>00:00–00:30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1188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Airbyte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</a:rPr>
              <a:t>ouvrir connexion, montrer dernière sync et tables RAW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261872" y="2103120"/>
            <a:ext cx="0" cy="530352"/>
          </a:xfrm>
          <a:prstGeom prst="line">
            <a:avLst/>
          </a:prstGeom>
          <a:noFill/>
          <a:ln w="254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984248"/>
            <a:ext cx="347472" cy="347472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19476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C99"/>
                </a:solidFill>
              </a:rPr>
              <a:t>00:30–01:20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1938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</a:rPr>
              <a:t>vérifier tables RAW puis tables marts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261872" y="2852928"/>
            <a:ext cx="0" cy="530352"/>
          </a:xfrm>
          <a:prstGeom prst="line">
            <a:avLst/>
          </a:prstGeom>
          <a:noFill/>
          <a:ln w="254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2734056"/>
            <a:ext cx="347472" cy="347472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26974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C99"/>
                </a:solidFill>
              </a:rPr>
              <a:t>01:20–02:05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6883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DBT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268833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</a:rPr>
              <a:t>lancer dbt run/test ou montrer logs de succès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261872" y="3602736"/>
            <a:ext cx="0" cy="530352"/>
          </a:xfrm>
          <a:prstGeom prst="line">
            <a:avLst/>
          </a:prstGeom>
          <a:noFill/>
          <a:ln w="25400">
            <a:solidFill>
              <a:srgbClr val="DD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483864"/>
            <a:ext cx="347472" cy="347472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64208" y="3447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C99"/>
                </a:solidFill>
              </a:rPr>
              <a:t>02:05–02:40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4381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Docs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343814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</a:rPr>
              <a:t>ouvrir le lineage des modèles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261872" y="4352544"/>
            <a:ext cx="0" cy="530352"/>
          </a:xfrm>
          <a:prstGeom prst="line">
            <a:avLst/>
          </a:prstGeom>
          <a:noFill/>
          <a:ln w="25400">
            <a:solidFill>
              <a:srgbClr val="DD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" y="4233672"/>
            <a:ext cx="347472" cy="347472"/>
          </a:xfrm>
          <a:prstGeom prst="ellipse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41970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C99"/>
                </a:solidFill>
              </a:rPr>
              <a:t>02:40–03:00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41879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AWS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18795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</a:rPr>
              <a:t>RDS/CloudWatch : statut, métriques et logs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1005840" y="5257800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486400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Astuce soutenance : ne pas tout montrer. Montrer les preuves qui rassurent Ouly : données chargées, tests OK, lineage clair, infrastructure supervisée.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10. Risques, limites et améliorations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Montrer une posture d’ingénierie : robuste, mais améliorable.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Risques maîtrisés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E8F6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47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7A54"/>
                </a:solidFill>
              </a:rPr>
              <a:t>Secrets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variables protégées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24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7A54"/>
                </a:solidFill>
              </a:rPr>
              <a:t>Qualité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68880" y="2624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tests DBT automatisés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E8F6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015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7A54"/>
                </a:solidFill>
              </a:rPr>
              <a:t>Disponibilité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3401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RDS + sauvegardes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788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7A54"/>
                </a:solidFill>
              </a:rPr>
              <a:t>Observabilité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4178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logs CloudWatch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26364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Améliorations proposées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0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47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Orchestration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09560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Step Functions ou MWAA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624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CI/CD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09560" y="2624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tests DBT à chaque PR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63640" y="324612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0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4015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Coûts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09560" y="3401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arrêt ressources hors démo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263640" y="402336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1788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Data contracts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09560" y="4178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733"/>
                </a:solidFill>
              </a:rPr>
              <a:t>contrats de schéma par source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257800"/>
            <a:ext cx="10241280" cy="566928"/>
          </a:xfrm>
          <a:prstGeom prst="roundRect">
            <a:avLst>
              <a:gd name="adj" fmla="val 9677"/>
            </a:avLst>
          </a:prstGeom>
          <a:solidFill>
            <a:srgbClr val="F2F7FD"/>
          </a:solidFill>
          <a:ln w="12700">
            <a:solidFill>
              <a:srgbClr val="F2F7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44982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C99"/>
                </a:solidFill>
              </a:rPr>
              <a:t>Conclusion : la plateforme répond au besoin Forecast 2.0 et pose une base industrialisable pour de nouvelles sources météo.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11. Checklist livrables pour la soutenance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Alignement avec la fiche d’auto-évaluation OpenClassrooms.</a:t>
            </a:r>
            <a:endParaRPr lang="en-US" sz="950" dirty="0"/>
          </a:p>
        </p:txBody>
      </p:sp>
      <p:pic>
        <p:nvPicPr>
          <p:cNvPr id="4" name="Image 0" descr="/mnt/data/p8_assets/fae-4.png">    </p:cNvPr>
          <p:cNvPicPr>
            <a:picLocks noChangeAspect="1"/>
          </p:cNvPicPr>
          <p:nvPr/>
        </p:nvPicPr>
        <p:blipFill>
          <a:blip r:embed="rId1"/>
          <a:srcRect l="13171" r="13171" t="0" b="0"/>
          <a:stretch/>
        </p:blipFill>
        <p:spPr>
          <a:xfrm>
            <a:off x="685800" y="1051560"/>
            <a:ext cx="470916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55080" y="114300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</a:rPr>
              <a:t>Schéma de base de données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8932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55080" y="173736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</a:rPr>
              <a:t>Logigramme ELT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932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</a:rPr>
              <a:t>Architecture physique AWS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8932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55080" y="292608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</a:rPr>
              <a:t>Captures Airbyte / DBT / AWS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893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55080" y="352044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</a:rPr>
              <a:t>Reporting qualité + délai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8932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080" y="411480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</a:rPr>
              <a:t>Démonstration fonctionnelle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97880" y="5084064"/>
            <a:ext cx="5166360" cy="6858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5285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À garder sous la main : fichiers SQL DBT, profiles masqué, captures, logs de test et URL de doc DBT.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Annexe A · Mission OpenClassrooms (1/3)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Captures intégrées comme preuves ou support de discussion.</a:t>
            </a:r>
            <a:endParaRPr lang="en-US" sz="950" dirty="0"/>
          </a:p>
        </p:txBody>
      </p:sp>
      <p:pic>
        <p:nvPicPr>
          <p:cNvPr id="4" name="Image 0" descr="/mnt/data/p8_assets/mission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518" y="1143000"/>
            <a:ext cx="1647483" cy="2331720"/>
          </a:xfrm>
          <a:prstGeom prst="rect">
            <a:avLst/>
          </a:prstGeom>
        </p:spPr>
      </p:pic>
      <p:pic>
        <p:nvPicPr>
          <p:cNvPr id="5" name="Image 1" descr="/mnt/data/p8_assets/mission-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38" y="1143000"/>
            <a:ext cx="1647483" cy="2331720"/>
          </a:xfrm>
          <a:prstGeom prst="rect">
            <a:avLst/>
          </a:prstGeom>
        </p:spPr>
      </p:pic>
      <p:pic>
        <p:nvPicPr>
          <p:cNvPr id="6" name="Image 2" descr="/mnt/data/p8_assets/mission-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518" y="3749040"/>
            <a:ext cx="1647483" cy="2331720"/>
          </a:xfrm>
          <a:prstGeom prst="rect">
            <a:avLst/>
          </a:prstGeom>
        </p:spPr>
      </p:pic>
      <p:pic>
        <p:nvPicPr>
          <p:cNvPr id="7" name="Image 3" descr="/mnt/data/p8_assets/mission-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638" y="3749040"/>
            <a:ext cx="1647483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Annexe B · Mission OpenClassrooms (2/3)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Captures intégrées comme preuves ou support de discussion.</a:t>
            </a:r>
            <a:endParaRPr lang="en-US" sz="950" dirty="0"/>
          </a:p>
        </p:txBody>
      </p:sp>
      <p:pic>
        <p:nvPicPr>
          <p:cNvPr id="4" name="Image 0" descr="/mnt/data/p8_assets/mission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518" y="1143000"/>
            <a:ext cx="1647483" cy="2331720"/>
          </a:xfrm>
          <a:prstGeom prst="rect">
            <a:avLst/>
          </a:prstGeom>
        </p:spPr>
      </p:pic>
      <p:pic>
        <p:nvPicPr>
          <p:cNvPr id="5" name="Image 1" descr="/mnt/data/p8_assets/mission-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38" y="1143000"/>
            <a:ext cx="1647483" cy="2331720"/>
          </a:xfrm>
          <a:prstGeom prst="rect">
            <a:avLst/>
          </a:prstGeom>
        </p:spPr>
      </p:pic>
      <p:pic>
        <p:nvPicPr>
          <p:cNvPr id="6" name="Image 2" descr="/mnt/data/p8_assets/mission-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518" y="3749040"/>
            <a:ext cx="1647483" cy="2331720"/>
          </a:xfrm>
          <a:prstGeom prst="rect">
            <a:avLst/>
          </a:prstGeom>
        </p:spPr>
      </p:pic>
      <p:pic>
        <p:nvPicPr>
          <p:cNvPr id="7" name="Image 3" descr="/mnt/data/p8_assets/mission-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638" y="3749040"/>
            <a:ext cx="1647483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Annexe C · Mission OpenClassrooms (3/3)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Captures intégrées comme preuves ou support de discussion.</a:t>
            </a:r>
            <a:endParaRPr lang="en-US" sz="950" dirty="0"/>
          </a:p>
        </p:txBody>
      </p:sp>
      <p:pic>
        <p:nvPicPr>
          <p:cNvPr id="4" name="Image 0" descr="/mnt/data/p8_assets/mission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518" y="1143000"/>
            <a:ext cx="1647483" cy="2331720"/>
          </a:xfrm>
          <a:prstGeom prst="rect">
            <a:avLst/>
          </a:prstGeom>
        </p:spPr>
      </p:pic>
      <p:pic>
        <p:nvPicPr>
          <p:cNvPr id="5" name="Image 1" descr="/mnt/data/p8_assets/mission-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38" y="1143000"/>
            <a:ext cx="1647483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Annexe D · Fiche d’auto-évaluation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Captures intégrées comme preuves ou support de discussion.</a:t>
            </a:r>
            <a:endParaRPr lang="en-US" sz="950" dirty="0"/>
          </a:p>
        </p:txBody>
      </p:sp>
      <p:pic>
        <p:nvPicPr>
          <p:cNvPr id="4" name="Image 0" descr="/mnt/data/p8_assets/fa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512" y="1143000"/>
            <a:ext cx="3293496" cy="2331720"/>
          </a:xfrm>
          <a:prstGeom prst="rect">
            <a:avLst/>
          </a:prstGeom>
        </p:spPr>
      </p:pic>
      <p:pic>
        <p:nvPicPr>
          <p:cNvPr id="5" name="Image 1" descr="/mnt/data/p8_assets/fa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632" y="1143000"/>
            <a:ext cx="3293496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733"/>
                </a:solidFill>
              </a:rPr>
              <a:t>Annexe E · Fiche d’auto-évaluation (2/2)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Captures intégrées comme preuves ou support de discussion.</a:t>
            </a:r>
            <a:endParaRPr lang="en-US" sz="950" dirty="0"/>
          </a:p>
        </p:txBody>
      </p:sp>
      <p:pic>
        <p:nvPicPr>
          <p:cNvPr id="4" name="Image 0" descr="/mnt/data/p8_assets/fa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512" y="1143000"/>
            <a:ext cx="3293496" cy="2331720"/>
          </a:xfrm>
          <a:prstGeom prst="rect">
            <a:avLst/>
          </a:prstGeom>
        </p:spPr>
      </p:pic>
      <p:pic>
        <p:nvPicPr>
          <p:cNvPr id="5" name="Image 1" descr="/mnt/data/p8_assets/fae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632" y="1143000"/>
            <a:ext cx="3293496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OpenClassrooms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Construisez et testez une infrastructure de données</dc:title>
  <dc:subject>Projet 8 GreenAndCoop - Soutenance</dc:subject>
  <dc:creator>OpenAI</dc:creator>
  <cp:lastModifiedBy>OpenAI</cp:lastModifiedBy>
  <cp:revision>1</cp:revision>
  <dcterms:created xsi:type="dcterms:W3CDTF">2026-07-24T10:12:45Z</dcterms:created>
  <dcterms:modified xsi:type="dcterms:W3CDTF">2026-07-24T10:12:45Z</dcterms:modified>
</cp:coreProperties>
</file>